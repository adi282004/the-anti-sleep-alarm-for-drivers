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44071-BA89-46E7-97F4-01A83E37DFC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39B96-F5E5-4361-BDAB-2CC03E989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7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E0D9-6B93-7C52-BAB2-62C9B443B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63F6E-7606-C6B0-9523-3884A46F2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466F2-67B6-E995-48BB-579DDC72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AEA1C-7858-86C2-1DD4-CD04E10A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7E8CB-E490-145D-7C31-9B8F7EBE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36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5CC0-EB20-89BB-3BD7-F5B27E17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7299-C32B-9687-5FB7-99E43B8D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29897-FAD9-D0EC-B98A-DD53580B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5542E-670B-6532-0B67-7A4B059A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F1CB-5E27-BC16-D2A2-A34489ED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165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DBD7-0282-9BFE-4BB8-3E31CC2A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0B4D3-9E21-99EF-7389-74B75741C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D0D8F-A924-FE0F-27DF-C6FAC6E5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60936-3C19-1293-5A1D-2ED7F38C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6093F-320A-94DF-F3DC-010D3B8F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44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403A-F2E2-C7B0-9965-A5576CFB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151FA-0D5C-D4AC-1DBB-509088678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6758-1ADE-3D75-C4A7-81AC43228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290DC-0F71-FA71-C694-557E6CBA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4E0F2-A0D3-A999-6FEB-10A836A1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108FD-D7E0-CD21-3445-8CFA42ED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59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4589-0608-41D4-4C9B-4D4392A9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4C1C-83B7-823D-64F7-6A7018D3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F1272-3099-8D2A-5C18-FCD69E250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E5B1A-FDBE-4E3F-2095-4E6A59F8A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FE743-62E2-2ECC-E4C8-599B7724F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16C29-5C8B-D76D-E90B-FDFBF5C9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E5E41-9DA0-B301-8C28-E7A78E01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1AB12-E06C-94C1-C034-22A0F68E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55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70BE-3E87-0515-5967-31830AD9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2B9AC-7D13-61C8-E5E2-BAACB7F8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26FD9-BED2-AA32-952C-7ACAF5EA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A5FA5-29A9-64BE-8B7D-3C086215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343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B8F64-DCE3-73C7-D7A5-AC1FB8B7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05DC3-92CC-92E0-6249-97B37365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1E453-535E-C2FD-72EB-A18D391F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13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83B8-B5A5-EC70-36DD-E4D8FB9B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4D6C-D986-1DC0-34C0-873AD9166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16FBC-4F44-F26B-9B42-4791D93A4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112F6-8581-A387-BAE4-E6B8E927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968AE-B8BD-EB2F-A44F-C8989F6A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EB8C-C346-DEF5-AD74-7481DD36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50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7831-693C-D150-0B08-900A5820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5F5FC-F273-B69D-7580-94E091EB3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541FC-1F25-5768-5527-E80476806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B8A2B-56ED-7967-D6A7-AD0DFFA9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D62F6-B513-106A-6D36-E8F2D402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2858E-8442-BB1A-38B5-2EF5CE4F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60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F179-4443-5B67-3F5A-503C17A8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A2331-F2D9-0D11-A4BC-EA2ECB236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1A4B9-5443-FE18-783A-67E4AF2A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A3F3-E126-AA96-7379-71F11DCD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39C34-A413-E6F3-186F-B58FCFBD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064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7CED5-3C36-BFBF-54F0-5D14881C7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1957A-40C4-F7DD-32FD-18A1E5A8F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8EC9-0C8E-6503-E734-A2BA0527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6C4E8-BA73-A6F5-A9B7-3A4B1EF5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67AA3-924D-2137-6A62-6FCD2FA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80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A8D46-6C14-1EE5-8B28-AAC08E7C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1FA7F-0845-CA3A-09E5-628436D7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C66D2-067F-FC08-DE8E-925B373C9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05B5D-0B5B-48B8-BA8B-6780680BC25B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ACB0-4A03-31AB-2098-486E5B96A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CAF65-2FF2-9CC2-9270-439C0F2BF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FA22-C147-45EF-9754-780CFE082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50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BF47AA-B965-372F-7138-8CC92AA40FEB}"/>
              </a:ext>
            </a:extLst>
          </p:cNvPr>
          <p:cNvSpPr txBox="1"/>
          <p:nvPr/>
        </p:nvSpPr>
        <p:spPr>
          <a:xfrm>
            <a:off x="816613" y="1740310"/>
            <a:ext cx="8376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3">
                    <a:lumMod val="40000"/>
                    <a:lumOff val="60000"/>
                  </a:schemeClr>
                </a:solidFill>
                <a:latin typeface="Bauhaus 93" panose="04030905020B02020C02" pitchFamily="82" charset="0"/>
              </a:rPr>
              <a:t>Anti Sleeping Alarm for Drivers</a:t>
            </a:r>
            <a:endParaRPr lang="en-IN" sz="4800" dirty="0">
              <a:solidFill>
                <a:schemeClr val="accent3">
                  <a:lumMod val="40000"/>
                  <a:lumOff val="6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1A5A4-9FAB-404D-8345-78F7EB707EC1}"/>
              </a:ext>
            </a:extLst>
          </p:cNvPr>
          <p:cNvSpPr txBox="1"/>
          <p:nvPr/>
        </p:nvSpPr>
        <p:spPr>
          <a:xfrm>
            <a:off x="13843821" y="-785044"/>
            <a:ext cx="166854" cy="8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26" name="Picture 2" descr="JSPM AND TSSM">
            <a:extLst>
              <a:ext uri="{FF2B5EF4-FFF2-40B4-BE49-F238E27FC236}">
                <a16:creationId xmlns:a16="http://schemas.microsoft.com/office/drawing/2014/main" id="{847A7B0B-4E0F-5837-B504-51B348842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828" y="179440"/>
            <a:ext cx="2228846" cy="164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A0F2B5-C13C-B266-190E-326A1AB85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1" y="2571307"/>
            <a:ext cx="11031793" cy="386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18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472D84-2D89-5659-11D0-C2AE0E52F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11" b="90000" l="10000" r="90000">
                        <a14:foregroundMark x1="44688" y1="15278" x2="51406" y2="7222"/>
                        <a14:foregroundMark x1="51406" y1="7222" x2="57500" y2="17222"/>
                        <a14:foregroundMark x1="57500" y1="17222" x2="48750" y2="13056"/>
                        <a14:foregroundMark x1="48750" y1="13056" x2="58438" y2="15278"/>
                        <a14:foregroundMark x1="58438" y1="15278" x2="47656" y2="17500"/>
                        <a14:foregroundMark x1="47656" y1="17500" x2="54688" y2="10000"/>
                        <a14:foregroundMark x1="54688" y1="10000" x2="45625" y2="11111"/>
                        <a14:foregroundMark x1="45625" y1="11111" x2="53594" y2="7500"/>
                        <a14:foregroundMark x1="53594" y1="7500" x2="45938" y2="11667"/>
                        <a14:foregroundMark x1="45938" y1="11667" x2="56719" y2="10278"/>
                        <a14:foregroundMark x1="56719" y1="10278" x2="48906" y2="10000"/>
                        <a14:foregroundMark x1="48906" y1="10000" x2="48281" y2="8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162" y="-137651"/>
            <a:ext cx="14473084" cy="6995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D42FC3-DC0D-21F8-2DFA-C6424FC6D5BA}"/>
              </a:ext>
            </a:extLst>
          </p:cNvPr>
          <p:cNvSpPr txBox="1"/>
          <p:nvPr/>
        </p:nvSpPr>
        <p:spPr>
          <a:xfrm>
            <a:off x="3915145" y="1327356"/>
            <a:ext cx="3496470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INTRODUCTION</a:t>
            </a:r>
            <a:endParaRPr lang="en-IN" sz="3200" dirty="0">
              <a:solidFill>
                <a:schemeClr val="accent4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A08E2-6F12-77FC-9C53-8F5FD6797198}"/>
              </a:ext>
            </a:extLst>
          </p:cNvPr>
          <p:cNvSpPr txBox="1"/>
          <p:nvPr/>
        </p:nvSpPr>
        <p:spPr>
          <a:xfrm>
            <a:off x="1396181" y="2192594"/>
            <a:ext cx="925682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drowsiness detection system is capable of detecting drowsiness quickly. The system</a:t>
            </a:r>
          </a:p>
          <a:p>
            <a:r>
              <a:rPr lang="en-US" dirty="0"/>
              <a:t>Can differentiate normal eye blink and drowsiness can prevent the driver from entering</a:t>
            </a:r>
          </a:p>
          <a:p>
            <a:r>
              <a:rPr lang="en-US" dirty="0"/>
              <a:t>The state of sleepiness while driving. The system works well irrespective of driver wearing </a:t>
            </a:r>
          </a:p>
          <a:p>
            <a:r>
              <a:rPr lang="en-US" dirty="0"/>
              <a:t>Spectacles and under low light conditions also. During monitoring, the system is able to decide</a:t>
            </a:r>
          </a:p>
          <a:p>
            <a:r>
              <a:rPr lang="en-US" dirty="0"/>
              <a:t>If the eyes are closed are open. When the eyes have been closed for a long a warning signal is</a:t>
            </a:r>
          </a:p>
          <a:p>
            <a:r>
              <a:rPr lang="en-US" dirty="0"/>
              <a:t>Issued. The ultimate goal of the system is to check the drowsiness condition of driver. Based on </a:t>
            </a:r>
          </a:p>
          <a:p>
            <a:r>
              <a:rPr lang="en-US" dirty="0"/>
              <a:t>The eyes movements of the driver, the drowsiness is detected and according to eye blink the </a:t>
            </a:r>
          </a:p>
          <a:p>
            <a:r>
              <a:rPr lang="en-US" dirty="0"/>
              <a:t>Alarm will be generated to alert the driver and to reduce the speed of the vehicle along with the </a:t>
            </a:r>
          </a:p>
          <a:p>
            <a:r>
              <a:rPr lang="en-US" dirty="0"/>
              <a:t>In detection of parking light. By doing this, many accidents will be reduced and provide safety</a:t>
            </a:r>
          </a:p>
          <a:p>
            <a:r>
              <a:rPr lang="en-US" dirty="0"/>
              <a:t>To the driver and the vehicle. A system that is driver safety is presented only in luxurious car</a:t>
            </a:r>
          </a:p>
          <a:p>
            <a:r>
              <a:rPr lang="en-US" dirty="0"/>
              <a:t>Using eye detection driver security and safety can be implemented in normal car</a:t>
            </a:r>
          </a:p>
          <a:p>
            <a:r>
              <a:rPr lang="en-US" dirty="0"/>
              <a:t>Also.</a:t>
            </a:r>
          </a:p>
        </p:txBody>
      </p:sp>
    </p:spTree>
    <p:extLst>
      <p:ext uri="{BB962C8B-B14F-4D97-AF65-F5344CB8AC3E}">
        <p14:creationId xmlns:p14="http://schemas.microsoft.com/office/powerpoint/2010/main" val="276650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46E23D-C837-DEE2-010C-D763BB1C7F5A}"/>
              </a:ext>
            </a:extLst>
          </p:cNvPr>
          <p:cNvSpPr/>
          <p:nvPr/>
        </p:nvSpPr>
        <p:spPr>
          <a:xfrm>
            <a:off x="3952569" y="2340077"/>
            <a:ext cx="3352800" cy="170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ARDUINO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chemeClr val="accent1">
                    <a:lumMod val="10000"/>
                  </a:schemeClr>
                </a:solidFill>
                <a:latin typeface="Arial Black" panose="020B0A04020102020204" pitchFamily="34" charset="0"/>
              </a:rPr>
              <a:t>NANO</a:t>
            </a:r>
            <a:endParaRPr lang="en-IN" dirty="0">
              <a:solidFill>
                <a:schemeClr val="accent1">
                  <a:lumMod val="1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150B57A-C0E5-4FE0-A54A-3AFAD458157B}"/>
              </a:ext>
            </a:extLst>
          </p:cNvPr>
          <p:cNvSpPr/>
          <p:nvPr/>
        </p:nvSpPr>
        <p:spPr>
          <a:xfrm>
            <a:off x="2605548" y="3048000"/>
            <a:ext cx="1386350" cy="5014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683187-2748-3710-0061-2231D6159942}"/>
              </a:ext>
            </a:extLst>
          </p:cNvPr>
          <p:cNvSpPr/>
          <p:nvPr/>
        </p:nvSpPr>
        <p:spPr>
          <a:xfrm>
            <a:off x="678426" y="2713703"/>
            <a:ext cx="1927122" cy="12388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POWER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SUPPLY</a:t>
            </a:r>
            <a:endParaRPr lang="en-IN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FC0BCDE-80D3-BBE1-2DB5-24B1AECFBCBA}"/>
              </a:ext>
            </a:extLst>
          </p:cNvPr>
          <p:cNvSpPr/>
          <p:nvPr/>
        </p:nvSpPr>
        <p:spPr>
          <a:xfrm>
            <a:off x="5220929" y="1514168"/>
            <a:ext cx="447369" cy="825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B8C575-00C6-24B9-45E1-906869309DE7}"/>
              </a:ext>
            </a:extLst>
          </p:cNvPr>
          <p:cNvSpPr/>
          <p:nvPr/>
        </p:nvSpPr>
        <p:spPr>
          <a:xfrm>
            <a:off x="4336026" y="393290"/>
            <a:ext cx="2241755" cy="1120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IR SENSOR</a:t>
            </a:r>
            <a:endParaRPr lang="en-IN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7EC79CB-8D4B-4396-EE62-3BAE0FBF2B3D}"/>
              </a:ext>
            </a:extLst>
          </p:cNvPr>
          <p:cNvSpPr/>
          <p:nvPr/>
        </p:nvSpPr>
        <p:spPr>
          <a:xfrm>
            <a:off x="7305369" y="3051687"/>
            <a:ext cx="1120877" cy="6022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EC6A5-DD41-A6B7-F1A1-8F76A76DC53B}"/>
              </a:ext>
            </a:extLst>
          </p:cNvPr>
          <p:cNvSpPr/>
          <p:nvPr/>
        </p:nvSpPr>
        <p:spPr>
          <a:xfrm>
            <a:off x="8426246" y="2684207"/>
            <a:ext cx="2182761" cy="1248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PIEZO-BUZZER</a:t>
            </a:r>
            <a:endParaRPr lang="en-IN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6868923-96AB-7584-5556-2200788A3DAD}"/>
              </a:ext>
            </a:extLst>
          </p:cNvPr>
          <p:cNvSpPr/>
          <p:nvPr/>
        </p:nvSpPr>
        <p:spPr>
          <a:xfrm>
            <a:off x="9075175" y="3952569"/>
            <a:ext cx="511278" cy="6980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476AEF-AC00-5BF0-D5FB-636887A286D2}"/>
              </a:ext>
            </a:extLst>
          </p:cNvPr>
          <p:cNvSpPr/>
          <p:nvPr/>
        </p:nvSpPr>
        <p:spPr>
          <a:xfrm>
            <a:off x="8465573" y="4650658"/>
            <a:ext cx="2379407" cy="10028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VIBRATION</a:t>
            </a:r>
          </a:p>
          <a:p>
            <a:pPr algn="ctr"/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MOTOR</a:t>
            </a:r>
            <a:endParaRPr lang="en-IN" dirty="0">
              <a:solidFill>
                <a:schemeClr val="tx2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B3AFB-04CD-1CCF-CD87-879D964324B4}"/>
              </a:ext>
            </a:extLst>
          </p:cNvPr>
          <p:cNvSpPr txBox="1"/>
          <p:nvPr/>
        </p:nvSpPr>
        <p:spPr>
          <a:xfrm>
            <a:off x="1120877" y="4581832"/>
            <a:ext cx="3352800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Britannic Bold" panose="020B0903060703020204" pitchFamily="34" charset="0"/>
              </a:rPr>
              <a:t>BLOCK DIAGRAM</a:t>
            </a:r>
            <a:endParaRPr lang="en-IN" sz="48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672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46E23D-C837-DEE2-010C-D763BB1C7F5A}"/>
              </a:ext>
            </a:extLst>
          </p:cNvPr>
          <p:cNvSpPr/>
          <p:nvPr/>
        </p:nvSpPr>
        <p:spPr>
          <a:xfrm>
            <a:off x="983226" y="816076"/>
            <a:ext cx="4768644" cy="3726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2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ARDUINO</a:t>
            </a:r>
          </a:p>
          <a:p>
            <a:pPr algn="ctr"/>
            <a:r>
              <a:rPr lang="en-US" sz="6000" dirty="0">
                <a:latin typeface="Britannic Bold" panose="020B0903060703020204" pitchFamily="34" charset="0"/>
              </a:rPr>
              <a:t> </a:t>
            </a:r>
            <a:r>
              <a:rPr lang="en-US" sz="6000" dirty="0">
                <a:solidFill>
                  <a:schemeClr val="accent1">
                    <a:lumMod val="10000"/>
                  </a:schemeClr>
                </a:solidFill>
                <a:latin typeface="Britannic Bold" panose="020B0903060703020204" pitchFamily="34" charset="0"/>
              </a:rPr>
              <a:t>NANO</a:t>
            </a:r>
            <a:endParaRPr lang="en-IN" sz="6000" dirty="0">
              <a:solidFill>
                <a:schemeClr val="accent1">
                  <a:lumMod val="1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9A1CD-BF69-9EC9-FD73-6BBEBEB41DB9}"/>
              </a:ext>
            </a:extLst>
          </p:cNvPr>
          <p:cNvSpPr txBox="1"/>
          <p:nvPr/>
        </p:nvSpPr>
        <p:spPr>
          <a:xfrm>
            <a:off x="6243485" y="914400"/>
            <a:ext cx="4965289" cy="501675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It Is Microcontroller Board. It Is Used</a:t>
            </a:r>
          </a:p>
          <a:p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 for technical Support, where we dump a code into it and it works as a controller or function.</a:t>
            </a:r>
          </a:p>
          <a:p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 The Operating Voltage of 5v However the input voltage can vary from 7to 12v. </a:t>
            </a:r>
            <a:endParaRPr lang="en-IN" sz="3200" dirty="0">
              <a:solidFill>
                <a:schemeClr val="accent3">
                  <a:lumMod val="40000"/>
                  <a:lumOff val="60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27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B8C575-00C6-24B9-45E1-906869309DE7}"/>
              </a:ext>
            </a:extLst>
          </p:cNvPr>
          <p:cNvSpPr/>
          <p:nvPr/>
        </p:nvSpPr>
        <p:spPr>
          <a:xfrm>
            <a:off x="6764594" y="1347018"/>
            <a:ext cx="4591664" cy="3834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2"/>
                </a:solidFill>
                <a:latin typeface="Britannic Bold" panose="020B0903060703020204" pitchFamily="34" charset="0"/>
              </a:rPr>
              <a:t>IR </a:t>
            </a:r>
          </a:p>
          <a:p>
            <a:pPr algn="ctr"/>
            <a:r>
              <a:rPr lang="en-US" sz="6000" dirty="0">
                <a:solidFill>
                  <a:schemeClr val="tx2"/>
                </a:solidFill>
                <a:latin typeface="Britannic Bold" panose="020B0903060703020204" pitchFamily="34" charset="0"/>
              </a:rPr>
              <a:t>SENSOR</a:t>
            </a:r>
            <a:endParaRPr lang="en-IN" sz="6000" dirty="0">
              <a:solidFill>
                <a:schemeClr val="tx2"/>
              </a:solidFill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E78A4-B6D5-57AB-8E5E-F85318E8DD71}"/>
              </a:ext>
            </a:extLst>
          </p:cNvPr>
          <p:cNvSpPr txBox="1"/>
          <p:nvPr/>
        </p:nvSpPr>
        <p:spPr>
          <a:xfrm>
            <a:off x="1052052" y="848262"/>
            <a:ext cx="5338916" cy="489364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It is a electronic  device used to detect some object </a:t>
            </a:r>
          </a:p>
          <a:p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near-by surrounding.</a:t>
            </a:r>
          </a:p>
          <a:p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It detect the movement of the</a:t>
            </a:r>
          </a:p>
          <a:p>
            <a:r>
              <a:rPr lang="en-I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object</a:t>
            </a: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.</a:t>
            </a:r>
          </a:p>
          <a:p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In this project we used IR sensor</a:t>
            </a:r>
          </a:p>
          <a:p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as an input to detect the movement of eye-blink.</a:t>
            </a:r>
          </a:p>
        </p:txBody>
      </p:sp>
    </p:spTree>
    <p:extLst>
      <p:ext uri="{BB962C8B-B14F-4D97-AF65-F5344CB8AC3E}">
        <p14:creationId xmlns:p14="http://schemas.microsoft.com/office/powerpoint/2010/main" val="110198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2EC6A5-DD41-A6B7-F1A1-8F76A76DC53B}"/>
              </a:ext>
            </a:extLst>
          </p:cNvPr>
          <p:cNvSpPr/>
          <p:nvPr/>
        </p:nvSpPr>
        <p:spPr>
          <a:xfrm>
            <a:off x="393289" y="1111044"/>
            <a:ext cx="4680155" cy="3854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2"/>
                </a:solidFill>
                <a:latin typeface="Britannic Bold" panose="020B0903060703020204" pitchFamily="34" charset="0"/>
              </a:rPr>
              <a:t>PIEZO-</a:t>
            </a:r>
          </a:p>
          <a:p>
            <a:pPr algn="ctr"/>
            <a:r>
              <a:rPr lang="en-US" sz="5400" dirty="0">
                <a:solidFill>
                  <a:schemeClr val="tx2"/>
                </a:solidFill>
                <a:latin typeface="Britannic Bold" panose="020B0903060703020204" pitchFamily="34" charset="0"/>
              </a:rPr>
              <a:t>BUZZER</a:t>
            </a:r>
            <a:endParaRPr lang="en-IN" sz="5400" dirty="0">
              <a:solidFill>
                <a:schemeClr val="tx2"/>
              </a:solidFill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40FBC7-3750-DCD0-1302-FCA669F1F3EB}"/>
              </a:ext>
            </a:extLst>
          </p:cNvPr>
          <p:cNvSpPr txBox="1"/>
          <p:nvPr/>
        </p:nvSpPr>
        <p:spPr>
          <a:xfrm>
            <a:off x="5817996" y="1346479"/>
            <a:ext cx="4903595" cy="467820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A piezo Buzzer is used to get output of the execute Program and any error occurs in it an immediate buzzer Is generated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37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32B60-86B7-004D-CE5B-A34272E2A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069" y="4603654"/>
            <a:ext cx="3131735" cy="1994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576CB-7547-D388-7755-2DF674B15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96" y="129102"/>
            <a:ext cx="2113934" cy="1892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45B86-93E7-C72C-A6DD-8644DEA579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t="21285" r="25521" b="13640"/>
          <a:stretch/>
        </p:blipFill>
        <p:spPr>
          <a:xfrm>
            <a:off x="174496" y="4678864"/>
            <a:ext cx="1786986" cy="198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16614-FEAB-C7FD-08A1-ABAF1801A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250" y="4678864"/>
            <a:ext cx="1786986" cy="184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A35C4-B3CB-4936-03CA-9A19A781BD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9" y="4436539"/>
            <a:ext cx="2479953" cy="2229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8BD61-8D75-CC62-0B96-1BB055EFBB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55" y="0"/>
            <a:ext cx="4537351" cy="2421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13598-B39C-CA32-C7E2-7762D2ABB4B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b="22931"/>
          <a:stretch/>
        </p:blipFill>
        <p:spPr>
          <a:xfrm>
            <a:off x="7975499" y="260338"/>
            <a:ext cx="3677024" cy="18123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38B0B5E-91B3-E82B-12C7-AB8A18BBDBA9}"/>
              </a:ext>
            </a:extLst>
          </p:cNvPr>
          <p:cNvSpPr/>
          <p:nvPr/>
        </p:nvSpPr>
        <p:spPr>
          <a:xfrm>
            <a:off x="0" y="2758421"/>
            <a:ext cx="12192000" cy="1433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HARDWARE COMPONENTS</a:t>
            </a:r>
            <a:endParaRPr lang="en-IN" sz="9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72045309"/>
      </p:ext>
    </p:extLst>
  </p:cSld>
  <p:clrMapOvr>
    <a:masterClrMapping/>
  </p:clrMapOvr>
  <p:transition spd="med" advClick="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576CB-7547-D388-7755-2DF674B1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67" y="3210193"/>
            <a:ext cx="2113934" cy="1892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8BD61-8D75-CC62-0B96-1BB055EFB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55" y="0"/>
            <a:ext cx="4537351" cy="2421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13598-B39C-CA32-C7E2-7762D2ABB4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b="22931"/>
          <a:stretch/>
        </p:blipFill>
        <p:spPr>
          <a:xfrm>
            <a:off x="7975499" y="260338"/>
            <a:ext cx="3677024" cy="18123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2B814D-3946-A9AF-F490-4C731A348DAD}"/>
              </a:ext>
            </a:extLst>
          </p:cNvPr>
          <p:cNvSpPr txBox="1"/>
          <p:nvPr/>
        </p:nvSpPr>
        <p:spPr>
          <a:xfrm>
            <a:off x="4080388" y="2966883"/>
            <a:ext cx="482763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 9V battery is an electric battery that supplies a nominal voltage of 9V.</a:t>
            </a:r>
          </a:p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Actual voltage measures 7.2 to 9.6V. Here, we use 9V battery for power supply to execute the working process.</a:t>
            </a:r>
            <a:endParaRPr lang="en-IN" sz="28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949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576CB-7547-D388-7755-2DF674B1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67" y="264336"/>
            <a:ext cx="2113934" cy="1892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8BD61-8D75-CC62-0B96-1BB055EFB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4" y="3264310"/>
            <a:ext cx="4537351" cy="2421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13598-B39C-CA32-C7E2-7762D2ABB4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b="22931"/>
          <a:stretch/>
        </p:blipFill>
        <p:spPr>
          <a:xfrm>
            <a:off x="8075009" y="344765"/>
            <a:ext cx="3677024" cy="18123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20628F-78C9-51FD-D1B7-2961FC852AF4}"/>
              </a:ext>
            </a:extLst>
          </p:cNvPr>
          <p:cNvSpPr txBox="1"/>
          <p:nvPr/>
        </p:nvSpPr>
        <p:spPr>
          <a:xfrm>
            <a:off x="6617110" y="37854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C3356-0926-90F7-3BAD-7D17D8426425}"/>
              </a:ext>
            </a:extLst>
          </p:cNvPr>
          <p:cNvSpPr txBox="1"/>
          <p:nvPr/>
        </p:nvSpPr>
        <p:spPr>
          <a:xfrm>
            <a:off x="5840362" y="2489882"/>
            <a:ext cx="57420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Nano board is designed in such a way that the pins are breadboard friendly so that you can easily mount it on one of your DIY projects. Overall, the Arduino Nano is a very good alternative to the mighty Arduino UNO and is available at a lower price. Personally speaking, I suggest </a:t>
            </a:r>
          </a:p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Arduino over UNO. </a:t>
            </a:r>
            <a:endParaRPr lang="en-IN" sz="28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4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576CB-7547-D388-7755-2DF674B1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67" y="264336"/>
            <a:ext cx="2113934" cy="1892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8BD61-8D75-CC62-0B96-1BB055EFB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360" y="338996"/>
            <a:ext cx="4537351" cy="2421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13598-B39C-CA32-C7E2-7762D2ABB4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b="22931"/>
          <a:stretch/>
        </p:blipFill>
        <p:spPr>
          <a:xfrm>
            <a:off x="8034492" y="3731126"/>
            <a:ext cx="3677024" cy="18123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DBB9B-C288-27A0-73F5-C2C6461E9FAD}"/>
              </a:ext>
            </a:extLst>
          </p:cNvPr>
          <p:cNvSpPr txBox="1"/>
          <p:nvPr/>
        </p:nvSpPr>
        <p:spPr>
          <a:xfrm>
            <a:off x="1076963" y="2992716"/>
            <a:ext cx="64367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eye blink system comes with an IR sensor mounted on glasses which the user can wear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like regular glasses, shown in the picture below.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Eye blink Sensor is a relatively simple sensor used to detect eye blinks.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It uses a simple infrared sensor to detect if the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person's eye is closed and the corresponding data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received can further be processed by any logic</a:t>
            </a:r>
          </a:p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as required for the application. </a:t>
            </a:r>
            <a:endParaRPr lang="en-IN" sz="2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485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32B60-86B7-004D-CE5B-A34272E2A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069" y="4603654"/>
            <a:ext cx="3131735" cy="1994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45B86-93E7-C72C-A6DD-8644DEA57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t="21285" r="25521" b="13640"/>
          <a:stretch/>
        </p:blipFill>
        <p:spPr>
          <a:xfrm>
            <a:off x="390806" y="1441536"/>
            <a:ext cx="1786986" cy="198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16614-FEAB-C7FD-08A1-ABAF1801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250" y="4678864"/>
            <a:ext cx="1786986" cy="184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A35C4-B3CB-4936-03CA-9A19A781B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9" y="4436539"/>
            <a:ext cx="2479953" cy="22297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94D933-8C2B-2FAC-8814-1EA9D775EAF6}"/>
              </a:ext>
            </a:extLst>
          </p:cNvPr>
          <p:cNvSpPr txBox="1"/>
          <p:nvPr/>
        </p:nvSpPr>
        <p:spPr>
          <a:xfrm>
            <a:off x="2425250" y="576073"/>
            <a:ext cx="9375944" cy="358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piezo buzzer produces sound based on reverse of the piezoelectric effect.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 generation of pressure variation or strain by the application of electric potential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across a piezoelectric material is the underlying principle.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These buzzers can be used alert a user of an event corresponding to a switching action,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counter signal or sensor input.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They are also used in alarm circuits.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buzzer produces a same noisy sound irrespective of the voltage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variation applied to it. It consists of piezo crystals between two conductors.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When a potential is applied across these crystals, they push on one conductor and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pull on the other. This, push and pull action, results in a sound wave.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Most buzzers produce sound in the range of 2 to 4 kHz. </a:t>
            </a:r>
            <a:endParaRPr lang="en-IN" sz="2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594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32B60-86B7-004D-CE5B-A34272E2A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069" y="4603654"/>
            <a:ext cx="3131735" cy="1994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45B86-93E7-C72C-A6DD-8644DEA57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t="21285" r="25521" b="13640"/>
          <a:stretch/>
        </p:blipFill>
        <p:spPr>
          <a:xfrm>
            <a:off x="383703" y="4557701"/>
            <a:ext cx="1786986" cy="198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16614-FEAB-C7FD-08A1-ABAF1801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92" y="1585412"/>
            <a:ext cx="1786986" cy="184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A35C4-B3CB-4936-03CA-9A19A781B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9" y="4436539"/>
            <a:ext cx="2479953" cy="22297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8A3607-1FF4-D717-2CB3-FA7A67884E99}"/>
              </a:ext>
            </a:extLst>
          </p:cNvPr>
          <p:cNvSpPr txBox="1"/>
          <p:nvPr/>
        </p:nvSpPr>
        <p:spPr>
          <a:xfrm>
            <a:off x="3637937" y="964678"/>
            <a:ext cx="5850192" cy="2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SPST Single pole single throw switch is nothing but a simple </a:t>
            </a:r>
          </a:p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two-terminal switch which help us to disconnect the one terminal</a:t>
            </a:r>
          </a:p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to another terminal (vice versa– ON or OFF operation). </a:t>
            </a:r>
            <a:endParaRPr lang="en-IN" sz="28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32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32B60-86B7-004D-CE5B-A34272E2A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069" y="4603654"/>
            <a:ext cx="3131735" cy="1994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45B86-93E7-C72C-A6DD-8644DEA57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t="21285" r="25521" b="13640"/>
          <a:stretch/>
        </p:blipFill>
        <p:spPr>
          <a:xfrm>
            <a:off x="383703" y="4557701"/>
            <a:ext cx="1786986" cy="198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16614-FEAB-C7FD-08A1-ABAF1801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90" y="4557701"/>
            <a:ext cx="1786986" cy="184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A35C4-B3CB-4936-03CA-9A19A781B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02" y="1339377"/>
            <a:ext cx="2479953" cy="22297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42E729-A63D-187A-2850-6F814673C752}"/>
              </a:ext>
            </a:extLst>
          </p:cNvPr>
          <p:cNvSpPr txBox="1"/>
          <p:nvPr/>
        </p:nvSpPr>
        <p:spPr>
          <a:xfrm>
            <a:off x="3071759" y="348556"/>
            <a:ext cx="840986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IR sensor is an electronic device that emits the light in order to sense some object of the surroundings.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An IR Sensor can measure the heat of an object as well as detects the motion.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Usually, in the Infrared spectrum all the objects radiate some form of thermal radiation.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These types of radiations are invisible to our eyes, but infrared sensor can detect these radiations.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 emitter is simply an IR LED and the detector is simply an IR photodiode.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Photodiode is sensitive to IR light of the same wavelength which is emitted by the IR LED.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When IR light falls on the photodiode, the resistances and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 output voltages will change in proportion to the magnitude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of the IR light received.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971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32B60-86B7-004D-CE5B-A34272E2A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30" y="1303295"/>
            <a:ext cx="3131735" cy="1994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45B86-93E7-C72C-A6DD-8644DEA57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t="21285" r="25521" b="13640"/>
          <a:stretch/>
        </p:blipFill>
        <p:spPr>
          <a:xfrm>
            <a:off x="383703" y="4557701"/>
            <a:ext cx="1786986" cy="198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16614-FEAB-C7FD-08A1-ABAF1801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90" y="4557701"/>
            <a:ext cx="1786986" cy="184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A35C4-B3CB-4936-03CA-9A19A781B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996" y="4315376"/>
            <a:ext cx="2479953" cy="22297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60C336-B798-D7F2-8613-AB31D395C8EC}"/>
              </a:ext>
            </a:extLst>
          </p:cNvPr>
          <p:cNvSpPr txBox="1"/>
          <p:nvPr/>
        </p:nvSpPr>
        <p:spPr>
          <a:xfrm>
            <a:off x="3915966" y="619432"/>
            <a:ext cx="686291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This is the micro vibration motor, as you can see it has two wires red and black.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Red is the positive wire while black is the ground wire. The working voltage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of the vibration motor is 2 to 5 volts.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The rated voltage is 3.7 volts and the current is .07 amps which is equal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to 70milli-amps. As you can see the vibration motor has small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thin wires due to which it’s really hard to interface this with the Arduino, </a:t>
            </a:r>
          </a:p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so I decided to fix the vibration motor on a small PCB board. 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47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1542A4-CA41-9CE9-E86F-084691CA5F7B}"/>
              </a:ext>
            </a:extLst>
          </p:cNvPr>
          <p:cNvSpPr/>
          <p:nvPr/>
        </p:nvSpPr>
        <p:spPr>
          <a:xfrm>
            <a:off x="816077" y="550606"/>
            <a:ext cx="5368413" cy="261538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28F36E-9E37-1857-F6EB-5BD57C0E00A0}"/>
              </a:ext>
            </a:extLst>
          </p:cNvPr>
          <p:cNvSpPr/>
          <p:nvPr/>
        </p:nvSpPr>
        <p:spPr>
          <a:xfrm>
            <a:off x="6022258" y="3687096"/>
            <a:ext cx="5368413" cy="261538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A2E84A-E020-50A2-A3AD-D2CADF4A7B54}"/>
              </a:ext>
            </a:extLst>
          </p:cNvPr>
          <p:cNvSpPr/>
          <p:nvPr/>
        </p:nvSpPr>
        <p:spPr>
          <a:xfrm>
            <a:off x="6548284" y="4213121"/>
            <a:ext cx="4159046" cy="15633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CONCLUSION</a:t>
            </a:r>
            <a:endParaRPr lang="en-IN" sz="48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CF06C-C814-DD93-7B0D-822A5C71E47B}"/>
              </a:ext>
            </a:extLst>
          </p:cNvPr>
          <p:cNvSpPr/>
          <p:nvPr/>
        </p:nvSpPr>
        <p:spPr>
          <a:xfrm>
            <a:off x="1420760" y="1076631"/>
            <a:ext cx="4159046" cy="15633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Working</a:t>
            </a:r>
            <a:endParaRPr lang="en-IN" sz="60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9E03D-5C3E-464D-1D03-4529B908F8E2}"/>
              </a:ext>
            </a:extLst>
          </p:cNvPr>
          <p:cNvCxnSpPr>
            <a:stCxn id="2" idx="3"/>
          </p:cNvCxnSpPr>
          <p:nvPr/>
        </p:nvCxnSpPr>
        <p:spPr>
          <a:xfrm flipV="1">
            <a:off x="6184490" y="1858295"/>
            <a:ext cx="248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0136B-ACD5-7B78-75EE-454660F8E3A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824748" y="4994785"/>
            <a:ext cx="219751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9E4DB68-CC08-2121-2793-6B12EE79A18A}"/>
              </a:ext>
            </a:extLst>
          </p:cNvPr>
          <p:cNvSpPr/>
          <p:nvPr/>
        </p:nvSpPr>
        <p:spPr>
          <a:xfrm>
            <a:off x="8668490" y="1705908"/>
            <a:ext cx="339213" cy="3047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D06818-BE29-0DB6-B84A-475C54759696}"/>
              </a:ext>
            </a:extLst>
          </p:cNvPr>
          <p:cNvSpPr/>
          <p:nvPr/>
        </p:nvSpPr>
        <p:spPr>
          <a:xfrm>
            <a:off x="3540967" y="4842398"/>
            <a:ext cx="339213" cy="3047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4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1542A4-CA41-9CE9-E86F-084691CA5F7B}"/>
              </a:ext>
            </a:extLst>
          </p:cNvPr>
          <p:cNvSpPr/>
          <p:nvPr/>
        </p:nvSpPr>
        <p:spPr>
          <a:xfrm>
            <a:off x="816077" y="550606"/>
            <a:ext cx="5368413" cy="261538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CF06C-C814-DD93-7B0D-822A5C71E47B}"/>
              </a:ext>
            </a:extLst>
          </p:cNvPr>
          <p:cNvSpPr/>
          <p:nvPr/>
        </p:nvSpPr>
        <p:spPr>
          <a:xfrm>
            <a:off x="1420760" y="1076631"/>
            <a:ext cx="4159046" cy="15633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Working</a:t>
            </a:r>
            <a:endParaRPr lang="en-IN" sz="60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9E03D-5C3E-464D-1D03-4529B908F8E2}"/>
              </a:ext>
            </a:extLst>
          </p:cNvPr>
          <p:cNvCxnSpPr>
            <a:stCxn id="2" idx="3"/>
          </p:cNvCxnSpPr>
          <p:nvPr/>
        </p:nvCxnSpPr>
        <p:spPr>
          <a:xfrm flipV="1">
            <a:off x="6184490" y="1858295"/>
            <a:ext cx="248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9E4DB68-CC08-2121-2793-6B12EE79A18A}"/>
              </a:ext>
            </a:extLst>
          </p:cNvPr>
          <p:cNvSpPr/>
          <p:nvPr/>
        </p:nvSpPr>
        <p:spPr>
          <a:xfrm>
            <a:off x="8668490" y="1705908"/>
            <a:ext cx="339213" cy="3047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3A38D-8380-81AF-7469-88E8353A1E14}"/>
              </a:ext>
            </a:extLst>
          </p:cNvPr>
          <p:cNvSpPr txBox="1"/>
          <p:nvPr/>
        </p:nvSpPr>
        <p:spPr>
          <a:xfrm>
            <a:off x="619431" y="3234812"/>
            <a:ext cx="105106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The project is used to detect the  Eye-blink or closing the eyes of a person, if eyes closed for a while. </a:t>
            </a:r>
          </a:p>
          <a:p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The buzzer automatically turns ON, when the person come back to his normal State.</a:t>
            </a:r>
          </a:p>
          <a:p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 The buzzer goes OFF. </a:t>
            </a:r>
          </a:p>
          <a:p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Given below Figure shows the working of the project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9419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28F36E-9E37-1857-F6EB-5BD57C0E00A0}"/>
              </a:ext>
            </a:extLst>
          </p:cNvPr>
          <p:cNvSpPr/>
          <p:nvPr/>
        </p:nvSpPr>
        <p:spPr>
          <a:xfrm>
            <a:off x="6022258" y="3687096"/>
            <a:ext cx="5368413" cy="261538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A2E84A-E020-50A2-A3AD-D2CADF4A7B54}"/>
              </a:ext>
            </a:extLst>
          </p:cNvPr>
          <p:cNvSpPr/>
          <p:nvPr/>
        </p:nvSpPr>
        <p:spPr>
          <a:xfrm>
            <a:off x="6612195" y="4213120"/>
            <a:ext cx="4159046" cy="15633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CONCLUSION</a:t>
            </a:r>
            <a:endParaRPr lang="en-IN" sz="48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0136B-ACD5-7B78-75EE-454660F8E3A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824748" y="4994785"/>
            <a:ext cx="219751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8D06818-BE29-0DB6-B84A-475C54759696}"/>
              </a:ext>
            </a:extLst>
          </p:cNvPr>
          <p:cNvSpPr/>
          <p:nvPr/>
        </p:nvSpPr>
        <p:spPr>
          <a:xfrm>
            <a:off x="3540967" y="4842398"/>
            <a:ext cx="339213" cy="3047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C9A9B-8B3A-991E-5FAA-883058D4B4BD}"/>
              </a:ext>
            </a:extLst>
          </p:cNvPr>
          <p:cNvSpPr txBox="1"/>
          <p:nvPr/>
        </p:nvSpPr>
        <p:spPr>
          <a:xfrm>
            <a:off x="108155" y="0"/>
            <a:ext cx="111792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This Project “ANTI-SLEEP ALARM FOR DRIVERS” is successfully designed, and tested and demo unit is fabricate.</a:t>
            </a:r>
          </a:p>
          <a:p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Whenever a driver asleep due to drowsiness, the buzzer continuously starts beeping unless the driver gets back to his/her normal position.</a:t>
            </a:r>
          </a:p>
          <a:p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 The ultimate goal of the system is to prevent the road accident, where the values measured in life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. 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083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EC1EFB-DE9C-C3CB-6795-C6539AB02D4D}"/>
              </a:ext>
            </a:extLst>
          </p:cNvPr>
          <p:cNvSpPr/>
          <p:nvPr/>
        </p:nvSpPr>
        <p:spPr>
          <a:xfrm>
            <a:off x="412955" y="98323"/>
            <a:ext cx="3244645" cy="67596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ADVANTAGES</a:t>
            </a:r>
            <a:endParaRPr lang="en-IN" sz="4000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54524-EE5D-7AB8-E57F-EF3E315CE33F}"/>
              </a:ext>
            </a:extLst>
          </p:cNvPr>
          <p:cNvSpPr/>
          <p:nvPr/>
        </p:nvSpPr>
        <p:spPr>
          <a:xfrm>
            <a:off x="8337754" y="3428998"/>
            <a:ext cx="3244645" cy="34290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APPLICATIONS</a:t>
            </a:r>
            <a:endParaRPr lang="en-IN" sz="36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C62F3-EEBF-ACA9-348D-0100BF51DEDD}"/>
              </a:ext>
            </a:extLst>
          </p:cNvPr>
          <p:cNvSpPr/>
          <p:nvPr/>
        </p:nvSpPr>
        <p:spPr>
          <a:xfrm>
            <a:off x="4296696" y="3428999"/>
            <a:ext cx="3244645" cy="3448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DISADVANTAGES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AD269-6641-899C-D169-A6B71FE659A0}"/>
              </a:ext>
            </a:extLst>
          </p:cNvPr>
          <p:cNvSpPr txBox="1"/>
          <p:nvPr/>
        </p:nvSpPr>
        <p:spPr>
          <a:xfrm>
            <a:off x="4267199" y="511277"/>
            <a:ext cx="7010400" cy="1754326"/>
          </a:xfrm>
          <a:prstGeom prst="rect">
            <a:avLst/>
          </a:prstGeom>
          <a:gradFill flip="none" rotWithShape="1">
            <a:gsLst>
              <a:gs pos="97000">
                <a:srgbClr val="FBFBFB"/>
              </a:gs>
              <a:gs pos="0">
                <a:schemeClr val="tx2">
                  <a:lumMod val="85000"/>
                  <a:lumOff val="1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3500000" scaled="1"/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It is used to avoid the accidents. </a:t>
            </a:r>
          </a:p>
          <a:p>
            <a:r>
              <a:rPr lang="en-US" dirty="0"/>
              <a:t>It is more-efficient and simple to use. </a:t>
            </a:r>
          </a:p>
          <a:p>
            <a:r>
              <a:rPr lang="en-US" dirty="0"/>
              <a:t>Using this Device helps the driver to wake up when he/she asleep while Driving. </a:t>
            </a:r>
          </a:p>
          <a:p>
            <a:r>
              <a:rPr lang="en-US" dirty="0"/>
              <a:t>Affordable Cost and Portable Size.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693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EC1EFB-DE9C-C3CB-6795-C6539AB02D4D}"/>
              </a:ext>
            </a:extLst>
          </p:cNvPr>
          <p:cNvSpPr/>
          <p:nvPr/>
        </p:nvSpPr>
        <p:spPr>
          <a:xfrm>
            <a:off x="383458" y="3428998"/>
            <a:ext cx="3244645" cy="3429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ADVANTAGES</a:t>
            </a:r>
            <a:endParaRPr lang="en-IN" sz="4000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54524-EE5D-7AB8-E57F-EF3E315CE33F}"/>
              </a:ext>
            </a:extLst>
          </p:cNvPr>
          <p:cNvSpPr/>
          <p:nvPr/>
        </p:nvSpPr>
        <p:spPr>
          <a:xfrm>
            <a:off x="8337754" y="3428998"/>
            <a:ext cx="3244645" cy="34290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APPLICATIONS</a:t>
            </a:r>
            <a:endParaRPr lang="en-IN" sz="36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C62F3-EEBF-ACA9-348D-0100BF51DEDD}"/>
              </a:ext>
            </a:extLst>
          </p:cNvPr>
          <p:cNvSpPr/>
          <p:nvPr/>
        </p:nvSpPr>
        <p:spPr>
          <a:xfrm>
            <a:off x="4296696" y="255640"/>
            <a:ext cx="3244645" cy="66023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DISADVANTAGES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AD269-6641-899C-D169-A6B71FE659A0}"/>
              </a:ext>
            </a:extLst>
          </p:cNvPr>
          <p:cNvSpPr txBox="1"/>
          <p:nvPr/>
        </p:nvSpPr>
        <p:spPr>
          <a:xfrm>
            <a:off x="661218" y="688257"/>
            <a:ext cx="2689123" cy="1384995"/>
          </a:xfrm>
          <a:prstGeom prst="rect">
            <a:avLst/>
          </a:prstGeom>
          <a:gradFill flip="none" rotWithShape="1">
            <a:gsLst>
              <a:gs pos="97000">
                <a:srgbClr val="FBFBFB"/>
              </a:gs>
              <a:gs pos="0">
                <a:schemeClr val="tx2">
                  <a:lumMod val="85000"/>
                  <a:lumOff val="1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3500000" scaled="1"/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Device may not work when the system circuitry fails. </a:t>
            </a:r>
            <a:endParaRPr lang="en-IN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17D86-A271-D9B1-7CE3-02A2FD034575}"/>
              </a:ext>
            </a:extLst>
          </p:cNvPr>
          <p:cNvSpPr txBox="1"/>
          <p:nvPr/>
        </p:nvSpPr>
        <p:spPr>
          <a:xfrm>
            <a:off x="8337754" y="688257"/>
            <a:ext cx="3352801" cy="184665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82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Yawning repeatedly or rubbing the eyes may get the circuit 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686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EC1EFB-DE9C-C3CB-6795-C6539AB02D4D}"/>
              </a:ext>
            </a:extLst>
          </p:cNvPr>
          <p:cNvSpPr/>
          <p:nvPr/>
        </p:nvSpPr>
        <p:spPr>
          <a:xfrm>
            <a:off x="383458" y="3428998"/>
            <a:ext cx="3244645" cy="3429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ADVANTAGES</a:t>
            </a:r>
            <a:endParaRPr lang="en-IN" sz="4000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54524-EE5D-7AB8-E57F-EF3E315CE33F}"/>
              </a:ext>
            </a:extLst>
          </p:cNvPr>
          <p:cNvSpPr/>
          <p:nvPr/>
        </p:nvSpPr>
        <p:spPr>
          <a:xfrm>
            <a:off x="8337754" y="235974"/>
            <a:ext cx="3244645" cy="66220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APPLICATIONS</a:t>
            </a:r>
            <a:endParaRPr lang="en-IN" sz="36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C62F3-EEBF-ACA9-348D-0100BF51DEDD}"/>
              </a:ext>
            </a:extLst>
          </p:cNvPr>
          <p:cNvSpPr/>
          <p:nvPr/>
        </p:nvSpPr>
        <p:spPr>
          <a:xfrm>
            <a:off x="4296696" y="3428998"/>
            <a:ext cx="3244645" cy="34290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DISADVANTAGES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AD269-6641-899C-D169-A6B71FE659A0}"/>
              </a:ext>
            </a:extLst>
          </p:cNvPr>
          <p:cNvSpPr txBox="1"/>
          <p:nvPr/>
        </p:nvSpPr>
        <p:spPr>
          <a:xfrm>
            <a:off x="657531" y="410678"/>
            <a:ext cx="7278330" cy="2308324"/>
          </a:xfrm>
          <a:prstGeom prst="rect">
            <a:avLst/>
          </a:prstGeom>
          <a:gradFill flip="none" rotWithShape="1">
            <a:gsLst>
              <a:gs pos="97000">
                <a:srgbClr val="FBFBFB"/>
              </a:gs>
              <a:gs pos="0">
                <a:schemeClr val="tx2">
                  <a:lumMod val="85000"/>
                  <a:lumOff val="1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3500000" scaled="1"/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Eyelid distance tracking to detect the  Sleepiness.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Sleepiness detection is Efficient and alarms will generate only when demanded (while in asleep).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This can be used in high-end manufacturing cars to prevent accidents.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Not only for Drivers but also, the device is used in number of ways like,</a:t>
            </a:r>
          </a:p>
          <a:p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ATM Guard Security, Military Base Security, bank Security and so on.  </a:t>
            </a:r>
            <a:endParaRPr lang="en-IN" sz="2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2717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1183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Algerian</vt:lpstr>
      <vt:lpstr>Angsana New</vt:lpstr>
      <vt:lpstr>Arial</vt:lpstr>
      <vt:lpstr>Arial Black</vt:lpstr>
      <vt:lpstr>Baskerville Old Face</vt:lpstr>
      <vt:lpstr>Bauhaus 93</vt:lpstr>
      <vt:lpstr>Berlin Sans FB Demi</vt:lpstr>
      <vt:lpstr>Britannic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Dabde</dc:creator>
  <cp:lastModifiedBy>adityayesekar99600@outlook.com</cp:lastModifiedBy>
  <cp:revision>7</cp:revision>
  <dcterms:created xsi:type="dcterms:W3CDTF">2024-04-20T17:43:09Z</dcterms:created>
  <dcterms:modified xsi:type="dcterms:W3CDTF">2024-04-22T06:56:18Z</dcterms:modified>
</cp:coreProperties>
</file>